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Contexte : les trois outils sont déjà sous licence. La décision porte sur le positionnement, pas sur l'achat. Objectif : désigner un outil de référence, clarifier le rôle des deux autres, dégager les économies possibles.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outils payés simultanément pour une même fonction. L'enjeu n'est pas d'acheter mais de positionner : qui fait foi, qui complète, qui 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Décision en trois volets, conditionnelle : le sort final de Fortify dépend de l'inventaire contractuel (phase 1) et du pilote technique (phase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SonarQube 4,40 = 5x0,25 + 4x0,20 + 4x0,15 + 5x0,15 + 4x0,10 + 4x0,10 + 5x0,05. GitLab 3,75. Fortify 2,60. La grille est une construction interne : chaque note renvoie à des faits documentés, la conversion en score est un choix éditorial soumis au comité.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philosophies : SonarQube = équilibre et gouvernance multi-forge ; GitLab = précision et vélocité dans son écosystème ; Fortify = détection maximale au prix de la lourdeur.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Anticiper l'objection Gartner plutôt que la subir. Le Forrester Wave SAST Q3 2025 — seule évaluation notant Sonar, GitLab et OpenText côte à côte — converge avec nos priorités (vitesse, remédiation).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les alternatives ont été sérieusement considérées est essentiel pour la crédibilité de la recommandation.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pilote s'appuie sur les référentiels publics NIST SAMATE (suite Juliet du SARD) et OWASP Benchmark — méthodologie neutre, reproductible, opposable.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protège la décision : rien d'irréversible avant que les mesures internes n'aient confirmé (ou infirmé) la grille.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Clore sur la demande explicite : trois points de validation. Le dossier Word v2 sert de référence pour les questions détaillées.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2E8B6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914400"/>
            <a:ext cx="3749040" cy="3749040"/>
          </a:xfrm>
          <a:prstGeom prst="ellipse">
            <a:avLst/>
          </a:prstGeom>
          <a:solidFill>
            <a:srgbClr val="97BC6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2E8B6E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l'outil SAST de référence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Data Center   •   GitLab Ultimate (Advanced SAST)   •   OpenText Fortify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décision — Résumé pour comité d'architecture sécurité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DevSecOps  |  Juillet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: trois licences SAST, aucun référent désigné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703320" cy="2468880"/>
          </a:xfrm>
          <a:prstGeom prst="roundRect">
            <a:avLst>
              <a:gd name="adj" fmla="val 2963"/>
            </a:avLst>
          </a:prstGeom>
          <a:solidFill>
            <a:srgbClr val="EFF5F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63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Data Center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Opéré en interne par l'équipe DevSecOps. Édition la plus haute : HA, taint analysis, rapports de conformité, option Advanced Security.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32004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8F3E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200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acquise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234440"/>
            <a:ext cx="3703320" cy="2468880"/>
          </a:xfrm>
          <a:prstGeom prst="roundRect">
            <a:avLst>
              <a:gd name="adj" fmla="val 2963"/>
            </a:avLst>
          </a:prstGeom>
          <a:solidFill>
            <a:srgbClr val="EFF5F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463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Ultimate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9432" y="19202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DevOps de l'organisation. Advanced SAST, tableau de vulnérabilités et IA Duo (triage FP, fix agentique) inclus sans surcoût.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9432" y="32004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8F3E9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3200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dans l'abonnement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84464" y="1234440"/>
            <a:ext cx="3703320" cy="2468880"/>
          </a:xfrm>
          <a:prstGeom prst="roundRect">
            <a:avLst>
              <a:gd name="adj" fmla="val 2963"/>
            </a:avLst>
          </a:prstGeom>
          <a:solidFill>
            <a:srgbClr val="EFF5F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13064" y="1463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OpenText Fortify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13064" y="19202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enterprise historique. Coût de renouvellement estimé 30 à 150 k$+/an (SCA + ScanCentral + SSC), hors maintenance.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13064" y="32004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/>
        </p:spPr>
      </p:sp>
      <p:sp>
        <p:nvSpPr>
          <p:cNvPr id="17" name="Text 15"/>
          <p:cNvSpPr/>
          <p:nvPr/>
        </p:nvSpPr>
        <p:spPr>
          <a:xfrm>
            <a:off x="8513064" y="3200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récurrent élevé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de la coexistence non gouvernée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dupliqués remontés aux développeurs par plusieurs outils sur un même code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 triage éclatée et indicateurs sécurité incohérents selon la source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 de conformité hétérogènes ; reporting non consolidé pour les directions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coût pérennisé alors qu'une partie est probablement évitable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décision SAST — Juillet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 proposée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81912"/>
            <a:ext cx="658368" cy="658368"/>
          </a:xfrm>
          <a:prstGeom prst="ellipse">
            <a:avLst/>
          </a:prstGeom>
          <a:solidFill>
            <a:srgbClr val="1F4E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81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14356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Data Center — outil SAST de référence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85623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source faisant foi : Quality Gates bloquantes, reporting de conformité, indicateurs sécurité. Multi-forges (GitLab, GitHub, Bitbucket, Azure DevOps).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953512"/>
            <a:ext cx="658368" cy="658368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953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17320" y="28072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Advanced SAST — contrôle complémentaire en Merge Request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22783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marginal nul (inclus dans Ultimate). Scan différentiel rapide + triage IA. Hors gates bloquantes, avec règle de déduplication publiée.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325112"/>
            <a:ext cx="658368" cy="6583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325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41788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Fortify — restreint aux périmètres exigés, ou décommissionné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59943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Conservé uniquement si l'inventaire identifie des exigences réelles (FedRAMP/DISA, C/C++ critique, legacy). Sinon : non-renouvellement.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8F3E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budgétaire : </a:t>
            </a:r>
            <a:pPr indent="0" marL="0">
              <a:buNone/>
            </a:pPr>
            <a:r>
              <a:rPr lang="en-US" sz="14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potentielle de 30 à 150 k$+/an sur Fortify, partiellement réinvestissable dans l'add-on SonarQube Advanced Security si le pilote en démontre le besoin.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décision SAST — Juillet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 pondérée — contexte centré développeurs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76272"/>
                <a:gridCol w="2176272"/>
                <a:gridCol w="2167128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 (poids)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 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Adv. SAST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développeur (25 %)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Profondeur de détection (20 %)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 CI/CD, vitesse (15 %)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Gouvernance, conformité (15 %)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Fiabilité / faux positifs (10 %)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récurrent / TCO (10 %)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Pérennité / indépendance (5 %)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pondéré /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806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 : adoption 25 % (facteur n°1 en milieu développeur), détection 20 %, CI/CD 15 %, gouvernance 15 %, fiabilité 10 %, coût 10 %, pérennité 5 %. Licences déjà acquises : seuls comptent les coûts récurrents et de sortie.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décision SAST — Juillet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fait la différence dans notre contexte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EFF5F2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417320"/>
            <a:ext cx="3300984" cy="475488"/>
          </a:xfrm>
          <a:prstGeom prst="roundRect">
            <a:avLst>
              <a:gd name="adj" fmla="val 15385"/>
            </a:avLst>
          </a:prstGeom>
          <a:solidFill>
            <a:srgbClr val="1F4E3D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17320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feedback la plus courte : IDE connecté, décoration MR, Quality Gates assimilées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réglementaires intégrés : OWASP, CWE, ASVS, PCI DSS, STIG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de la forge Git — résiste aux rachats et migrations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DC sous-exploitées : custom sources/sinks, taint dans les dépendances (Advanced Security)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0832" y="118872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EFF5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417320"/>
            <a:ext cx="3300984" cy="475488"/>
          </a:xfrm>
          <a:prstGeom prst="roundRect">
            <a:avLst>
              <a:gd name="adj" fmla="val 15385"/>
            </a:avLst>
          </a:prstGeom>
          <a:solidFill>
            <a:srgbClr val="2E8B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417320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Advanced SAST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26864" y="210312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différentiel rapide, natif à chaque Merge Request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Philosophie « flux vérifiables » : peu de bruit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des faux positifs et fix agentique par IA (GA 2026)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: mono-forge, reporting réglementaire limité, palier Ultimate requis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84464" y="118872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EFF5F2"/>
          </a:solidFill>
          <a:ln/>
        </p:spPr>
      </p:sp>
      <p:sp>
        <p:nvSpPr>
          <p:cNvPr id="12" name="Shape 10"/>
          <p:cNvSpPr/>
          <p:nvPr/>
        </p:nvSpPr>
        <p:spPr>
          <a:xfrm>
            <a:off x="8485632" y="1417320"/>
            <a:ext cx="3300984" cy="475488"/>
          </a:xfrm>
          <a:prstGeom prst="roundRect">
            <a:avLst>
              <a:gd name="adj" fmla="val 15385"/>
            </a:avLst>
          </a:prstGeom>
          <a:solidFill>
            <a:srgbClr val="7A4A21"/>
          </a:solidFill>
          <a:ln/>
        </p:spPr>
      </p:sp>
      <p:sp>
        <p:nvSpPr>
          <p:cNvPr id="13" name="Text 11"/>
          <p:cNvSpPr/>
          <p:nvPr/>
        </p:nvSpPr>
        <p:spPr>
          <a:xfrm>
            <a:off x="8485632" y="1417320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40496" y="210312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inégalée : programme entier, second ordre, C/C++, legacy COBOL/ABAP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FedRAMP / DISA STIG de référence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: scans 60-180 min, adoption développeur quasi nulle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le plus élevé, triage lourd (faux positifs)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décision SAST — Juillet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Transparence : analystes et limites de la grille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2057400"/>
          </a:xfrm>
          <a:prstGeom prst="roundRect">
            <a:avLst>
              <a:gd name="adj" fmla="val 3556"/>
            </a:avLst>
          </a:prstGeom>
          <a:solidFill>
            <a:srgbClr val="F7EFE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Fortify à 2,60 alors qu'OpenText est Leader Gartner ? 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OpenText est Leader du Magic Quadrant AST pour la 11e année consécutive (oct. 2025). Pas de contradiction : le MQ évalue la </a:t>
            </a:r>
            <a:pPr indent="0" marL="0">
              <a:buNone/>
            </a:pPr>
            <a:r>
              <a:rPr lang="en-US" sz="1350" b="1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et l'exécution de l'éditeur</a:t>
            </a:r>
            <a:pPr indent="0" marL="0">
              <a:buNone/>
            </a:pPr>
            <a:r>
              <a:rPr lang="en-US" sz="13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l'échelle du marché mondial ; notre grille mesure </a:t>
            </a:r>
            <a:pPr indent="0" marL="0">
              <a:buNone/>
            </a:pPr>
            <a:r>
              <a:rPr lang="en-US" sz="1350" b="1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l'adéquation au contexte de l'organisation</a:t>
            </a:r>
            <a:pPr indent="0" marL="0">
              <a:buNone/>
            </a:pPr>
            <a:r>
              <a:rPr lang="en-US" sz="13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(centré développeurs, licences détenues). Un leader de marché peut être le moins adapté à un contexte donné.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11274552" cy="2560320"/>
          </a:xfrm>
          <a:prstGeom prst="roundRect">
            <a:avLst>
              <a:gd name="adj" fmla="val 2857"/>
            </a:avLst>
          </a:prstGeom>
          <a:solidFill>
            <a:srgbClr val="EFF5F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03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 est une construction analytique interne — assumée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note renvoie à des faits documentés (docs éditeurs, revues croisées), mais la pondération et la conversion en score restent des choix éditoriaux soumis au comité.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 n°1 — validation collégiale des poids : atelier AppSec / leads développement / architecture.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 n°2 — mesures internes : les notes « détection » et « fiabilité » seront réévaluées par le pilote (slide 8) avant décision finale sur Fortify.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décision SAST — Juillet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scénarios examinés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9509760" cy="1042416"/>
          </a:xfrm>
          <a:prstGeom prst="roundRect">
            <a:avLst>
              <a:gd name="adj" fmla="val 7018"/>
            </a:avLst>
          </a:prstGeom>
          <a:solidFill>
            <a:srgbClr val="E8F3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SonarQube référent + GitLab complément + Fortify restreint/décommissionné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099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maximale, capitalise sur l'existant, économie Fortify, double regard sécurité sans surcoût.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149840" y="1508760"/>
            <a:ext cx="1581912" cy="493776"/>
          </a:xfrm>
          <a:prstGeom prst="roundRect">
            <a:avLst>
              <a:gd name="adj" fmla="val 50000"/>
            </a:avLst>
          </a:prstGeom>
          <a:solidFill>
            <a:srgbClr val="E8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1508760"/>
            <a:ext cx="1581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9509760" cy="1042416"/>
          </a:xfrm>
          <a:prstGeom prst="roundRect">
            <a:avLst>
              <a:gd name="adj" fmla="val 7018"/>
            </a:avLst>
          </a:prstGeom>
          <a:solidFill>
            <a:srgbClr val="EFF5F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3288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GitLab Advanced SAST référent unique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16936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Enfermement mono-forge ; perte des Quality Gates multi-plateformes et du reporting réglementaire ; migration des historiques.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149840" y="2715768"/>
            <a:ext cx="1581912" cy="493776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0" y="2715768"/>
            <a:ext cx="1581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48456"/>
            <a:ext cx="9509760" cy="1042416"/>
          </a:xfrm>
          <a:prstGeom prst="roundRect">
            <a:avLst>
              <a:gd name="adj" fmla="val 7018"/>
            </a:avLst>
          </a:prstGeom>
          <a:solidFill>
            <a:srgbClr val="EFF5F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3989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Fortify référent (statu quo renforcé)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12394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développeur quasi nulle ; scans incompatibles avec le cycle de MR ; TCO maximal ; triage lourd.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49840" y="3922776"/>
            <a:ext cx="1581912" cy="493776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0" y="3922776"/>
            <a:ext cx="1581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55464"/>
            <a:ext cx="9509760" cy="1042416"/>
          </a:xfrm>
          <a:prstGeom prst="roundRect">
            <a:avLst>
              <a:gd name="adj" fmla="val 7018"/>
            </a:avLst>
          </a:prstGeom>
          <a:solidFill>
            <a:srgbClr val="EFF5F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94690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Statu quo : trois outils sans référent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33095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dupliqués, triage éclaté, indicateurs incohérents, triple coût pérennisé, fatigue des équipes.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49840" y="5129784"/>
            <a:ext cx="1581912" cy="493776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5129784"/>
            <a:ext cx="1581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décision SAST — Juillet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maîtrisés, décision conditionnée par la mesure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clés → mitigations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FF5F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76479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profondeur post-Fortify (second ordre)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1122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comparatif avant tout décommissionnement ; add-on Advanced Security si écart matériel ; pentest annuel ciblé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FF5F2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8163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remontée SonarQube / GitLab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16382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 primauté publiée ; seul SonarQube branché aux gates bloquantes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FF5F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8679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 FedRAMP/DISA découverte tard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421538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contractuel avant renouvellement ; réduction de périmètre plutôt que résiliation sèche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FF5F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9194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hotspots → vulnérabilités (SonarSource)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52669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ajustées sur le new code + communication avant la montée de version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pilote (M1-2) : rendre les notes opposables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5330952" cy="4206240"/>
          </a:xfrm>
          <a:prstGeom prst="roundRect">
            <a:avLst>
              <a:gd name="adj" fmla="val 1739"/>
            </a:avLst>
          </a:prstGeom>
          <a:solidFill>
            <a:srgbClr val="F4F8F2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965960"/>
            <a:ext cx="4800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: </a:t>
            </a:r>
            <a:pPr indent="0" marL="0">
              <a:buNone/>
            </a:pPr>
            <a:r>
              <a:rPr lang="en-US" sz="12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Benchmark (référence publique NIST/OWASP) + 2-3 dépôts internes à vulnérabilités connues et corrigées.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</a:t>
            </a:r>
            <a:pPr indent="0" marL="0">
              <a:buNone/>
            </a:pPr>
            <a:r>
              <a:rPr lang="en-US" sz="12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outils en configuration de production ; mesure TPR, FPR, temps de scan, effort de triage.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: </a:t>
            </a:r>
            <a:pPr indent="0" marL="0">
              <a:buNone/>
            </a:pPr>
            <a:r>
              <a:rPr lang="en-US" sz="12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Youden (TPR − FPR) par outil et par classe de vulnérabilité (CWE).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: </a:t>
            </a:r>
            <a:pPr indent="0" marL="0">
              <a:buNone/>
            </a:pPr>
            <a:r>
              <a:rPr lang="en-US" sz="12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scores « détection » et « fiabilité » de la grille sont réévalués sur ces mesures avant la décision finale sur Fortify.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décision SAST — Juillet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mise en œuvre — 12 mois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2121408" cy="502920"/>
          </a:xfrm>
          <a:prstGeom prst="roundRect">
            <a:avLst>
              <a:gd name="adj" fmla="val 14545"/>
            </a:avLst>
          </a:prstGeom>
          <a:solidFill>
            <a:srgbClr val="1F4E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Cadrage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FF5F2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228600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contractuel (FedRAMP / DISA / PCI) et legacy scanné par Fortify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rot="5400000">
            <a:off x="2592324" y="1682496"/>
            <a:ext cx="137160" cy="23774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1554480"/>
            <a:ext cx="2121408" cy="502920"/>
          </a:xfrm>
          <a:prstGeom prst="roundRect">
            <a:avLst>
              <a:gd name="adj" fmla="val 14545"/>
            </a:avLst>
          </a:prstGeom>
          <a:solidFill>
            <a:srgbClr val="1F4E3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5544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M1-2 — Pilote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14884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FF5F2"/>
          </a:solidFill>
          <a:ln/>
        </p:spPr>
      </p:sp>
      <p:sp>
        <p:nvSpPr>
          <p:cNvPr id="11" name="Text 9"/>
          <p:cNvSpPr/>
          <p:nvPr/>
        </p:nvSpPr>
        <p:spPr>
          <a:xfrm>
            <a:off x="2871216" y="228600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Benchmark + dépôts internes ; TPR/FPR, temps de scan, triage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5400000">
            <a:off x="4878324" y="1682496"/>
            <a:ext cx="137160" cy="23774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554480"/>
            <a:ext cx="2121408" cy="502920"/>
          </a:xfrm>
          <a:prstGeom prst="roundRect">
            <a:avLst>
              <a:gd name="adj" fmla="val 14545"/>
            </a:avLst>
          </a:prstGeom>
          <a:solidFill>
            <a:srgbClr val="1F4E3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544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M2-3 — Gouvernance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14884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FF5F2"/>
          </a:solidFill>
          <a:ln/>
        </p:spPr>
      </p:sp>
      <p:sp>
        <p:nvSpPr>
          <p:cNvPr id="16" name="Text 14"/>
          <p:cNvSpPr/>
          <p:nvPr/>
        </p:nvSpPr>
        <p:spPr>
          <a:xfrm>
            <a:off x="5157216" y="228600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SAST validée ; gates durcies sur le new code (0 vuln critique, 100 % hotspots revus)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5400000">
            <a:off x="7164324" y="1682496"/>
            <a:ext cx="137160" cy="23774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1554480"/>
            <a:ext cx="2121408" cy="502920"/>
          </a:xfrm>
          <a:prstGeom prst="roundRect">
            <a:avLst>
              <a:gd name="adj" fmla="val 14545"/>
            </a:avLst>
          </a:prstGeom>
          <a:solidFill>
            <a:srgbClr val="1F4E3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5544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M3-6 — Transition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214884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FF5F2"/>
          </a:solidFill>
          <a:ln/>
        </p:spPr>
      </p:sp>
      <p:sp>
        <p:nvSpPr>
          <p:cNvPr id="21" name="Text 19"/>
          <p:cNvSpPr/>
          <p:nvPr/>
        </p:nvSpPr>
        <p:spPr>
          <a:xfrm>
            <a:off x="7443216" y="228600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périmètre ou non-reconduction Fortify ; migration des findings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5400000">
            <a:off x="9450324" y="1682496"/>
            <a:ext cx="137160" cy="23774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1554480"/>
            <a:ext cx="2121408" cy="502920"/>
          </a:xfrm>
          <a:prstGeom prst="roundRect">
            <a:avLst>
              <a:gd name="adj" fmla="val 14545"/>
            </a:avLst>
          </a:prstGeom>
          <a:solidFill>
            <a:srgbClr val="1F4E3D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15544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M6-12 — Consolidation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1200" y="214884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FF5F2"/>
          </a:solidFill>
          <a:ln/>
        </p:spPr>
      </p:sp>
      <p:sp>
        <p:nvSpPr>
          <p:cNvPr id="26" name="Text 24"/>
          <p:cNvSpPr/>
          <p:nvPr/>
        </p:nvSpPr>
        <p:spPr>
          <a:xfrm>
            <a:off x="9729216" y="228600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internes modélisés (sources/sinks) ; AI CodeFix ; benchmark annuel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8F3E9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8920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conditionnelle et réversible : </a:t>
            </a:r>
            <a:pPr indent="0" marL="0">
              <a:buNone/>
            </a:pPr>
            <a:r>
              <a:rPr lang="en-US" sz="14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sort de Fortify n'est arrêté qu'après l'inventaire (M1) et le pilote (M2). Première année : réduction de périmètre plutôt que résiliation sèche, pour conserver une position de repli.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décision SAST — Juillet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389120"/>
            <a:ext cx="4754880" cy="4754880"/>
          </a:xfrm>
          <a:prstGeom prst="ellipse">
            <a:avLst/>
          </a:prstGeom>
          <a:solidFill>
            <a:srgbClr val="2E8B6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Fondement méthodologique &amp; validation demandée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neutres mobilisées (Annexe A du dossier complet)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10149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Analystes : Forrester Wave SAST Q3 2025 (note Sonar, GitLab et OpenText parmi 10 éditeurs, 23 critères) ; Gartner MQ AST oct. 2025 ; avis vérifiés Peer Insights / PeerSpot.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Organismes publics : NIST SAMATE / SATE (SP 500-326), suite Juliet du SARD (13 782 cas de test), OWASP Benchmark ; guides ANSSI (développement sécurisé, code assisté par IA).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Académique : ESEC/FSE 2023 (SAST Java), ISSTA 2024 (limites intrinsèques : 76 % d'alertes non pertinentes, 22 % de vulnérabilités manquées), PeerJ CS 2025 (complémentarité SAST/DAST).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demandée au comité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438912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le positionnement : SonarQube DC référent, GitLab Advanced SAST complément, Fortify conditionné à l'inventaire.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Mandater l'atelier de validation des pondérations et le lancement du pilote (M1).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Acter le principe de non-reconduction Fortify si aucun périmètre exigeant n'est identifié.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Porteur : équipe DevSecOps (plateforme SonarQube)  |  Dossier complet : v2, 10 pages, annexe méthodologique incluse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2026-07-16T22:59:31Z</dcterms:created>
  <dcterms:modified xsi:type="dcterms:W3CDTF">2026-07-16T22:59:31Z</dcterms:modified>
</cp:coreProperties>
</file>